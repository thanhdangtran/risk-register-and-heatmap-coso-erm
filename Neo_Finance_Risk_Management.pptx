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6"/>
          <c:min val="0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Probability (1=Low, 5=High)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Impact (1=Low, 5=High)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187" y="466725"/>
            <a:ext cx="80016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Risk Management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204152" y="1343025"/>
            <a:ext cx="473554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 &amp; Heatmap Analysis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729637" y="2619375"/>
            <a:ext cx="16845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 Finance Bank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196498" y="3267075"/>
            <a:ext cx="27510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Unsecured Lending Platform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522422" y="4410075"/>
            <a:ext cx="20991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Framework: COSO ERM 2017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9088"/>
            <a:ext cx="8382000" cy="723900"/>
          </a:xfrm>
          <a:prstGeom prst="roundRect">
            <a:avLst>
              <a:gd name="adj" fmla="val 10526"/>
            </a:avLst>
          </a:prstGeom>
          <a:solidFill>
            <a:srgbClr val="1F4E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2450" y="490538"/>
            <a:ext cx="41096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385888"/>
            <a:ext cx="1981200" cy="1076325"/>
          </a:xfrm>
          <a:prstGeom prst="roundRect">
            <a:avLst>
              <a:gd name="adj" fmla="val 5664"/>
            </a:avLst>
          </a:prstGeom>
          <a:solidFill>
            <a:srgbClr val="FFFFFF"/>
          </a:solidFill>
          <a:ln w="19050">
            <a:solidFill>
              <a:srgbClr val="D5D8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6067" y="1557338"/>
            <a:ext cx="1671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36067" y="2062163"/>
            <a:ext cx="16710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75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Risks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14600" y="1385888"/>
            <a:ext cx="1981200" cy="1076325"/>
          </a:xfrm>
          <a:prstGeom prst="roundRect">
            <a:avLst>
              <a:gd name="adj" fmla="val 5664"/>
            </a:avLst>
          </a:prstGeom>
          <a:solidFill>
            <a:srgbClr val="FFFFFF"/>
          </a:solidFill>
          <a:ln w="19050">
            <a:solidFill>
              <a:srgbClr val="D5D8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69667" y="1557338"/>
            <a:ext cx="1671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69667" y="2062163"/>
            <a:ext cx="16710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75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Appetite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48200" y="1385888"/>
            <a:ext cx="1981200" cy="1076325"/>
          </a:xfrm>
          <a:prstGeom prst="roundRect">
            <a:avLst>
              <a:gd name="adj" fmla="val 5664"/>
            </a:avLst>
          </a:prstGeom>
          <a:solidFill>
            <a:srgbClr val="FFFFFF"/>
          </a:solidFill>
          <a:ln w="19050">
            <a:solidFill>
              <a:srgbClr val="D5D8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03267" y="1557338"/>
            <a:ext cx="1671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03267" y="2062163"/>
            <a:ext cx="16710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75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Appetite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81800" y="1385888"/>
            <a:ext cx="1981200" cy="1076325"/>
          </a:xfrm>
          <a:prstGeom prst="roundRect">
            <a:avLst>
              <a:gd name="adj" fmla="val 5664"/>
            </a:avLst>
          </a:prstGeom>
          <a:solidFill>
            <a:srgbClr val="FFFFFF"/>
          </a:solidFill>
          <a:ln w="19050">
            <a:solidFill>
              <a:srgbClr val="D5D8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36867" y="1557338"/>
            <a:ext cx="1671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936867" y="2062163"/>
            <a:ext cx="16710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75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Limit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1000" y="2900363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9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1000" y="3452813"/>
            <a:ext cx="8382000" cy="1181100"/>
          </a:xfrm>
          <a:prstGeom prst="rect">
            <a:avLst/>
          </a:prstGeom>
          <a:noFill/>
          <a:ln/>
        </p:spPr>
        <p:txBody>
          <a:bodyPr wrap="square" lIns="71438" tIns="0" rIns="0" bIns="0" rtlCol="0" anchor="t"/>
          <a:lstStyle/>
          <a:p>
            <a:pPr algn="l" marL="71438" indent="-71438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risk concentration in thin-file segment requires attention</a:t>
            </a:r>
            <a:endParaRPr lang="en-US" sz="1350" dirty="0"/>
          </a:p>
          <a:p>
            <a:pPr algn="l" marL="71438" indent="-71438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infrastructure is robust with effective controls</a:t>
            </a:r>
            <a:endParaRPr lang="en-US" sz="1350" dirty="0"/>
          </a:p>
          <a:p>
            <a:pPr algn="l" marL="71438" indent="-71438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COSO ERM framework fully implemented across all components</a:t>
            </a:r>
            <a:endParaRPr lang="en-US" sz="1350" dirty="0"/>
          </a:p>
          <a:p>
            <a:pPr algn="l" marL="71438" indent="-71438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KRI monitoring shows all indicators in green status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28638"/>
            <a:ext cx="8382000" cy="762000"/>
          </a:xfrm>
          <a:prstGeom prst="roundRect">
            <a:avLst>
              <a:gd name="adj" fmla="val 10000"/>
            </a:avLst>
          </a:prstGeom>
          <a:solidFill>
            <a:srgbClr val="1F4E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719138"/>
            <a:ext cx="47508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COSO ERM Framework 2017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681163"/>
            <a:ext cx="4038600" cy="876300"/>
          </a:xfrm>
          <a:prstGeom prst="roundRect">
            <a:avLst>
              <a:gd name="adj" fmla="val 8696"/>
            </a:avLst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681163"/>
            <a:ext cx="0" cy="87630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0550" y="1852612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Culture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0550" y="2195513"/>
            <a:ext cx="37307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oversight, risk appetite, ethical values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2709863"/>
            <a:ext cx="4038600" cy="876300"/>
          </a:xfrm>
          <a:prstGeom prst="roundRect">
            <a:avLst>
              <a:gd name="adj" fmla="val 8696"/>
            </a:avLst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2709863"/>
            <a:ext cx="0" cy="87630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0550" y="2881313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&amp; Objective-Setting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90550" y="3224213"/>
            <a:ext cx="37307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risk into strategic planning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1000" y="3738563"/>
            <a:ext cx="4038600" cy="876300"/>
          </a:xfrm>
          <a:prstGeom prst="roundRect">
            <a:avLst>
              <a:gd name="adj" fmla="val 8696"/>
            </a:avLst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0050" y="3738563"/>
            <a:ext cx="0" cy="87630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0550" y="3910013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90550" y="4252913"/>
            <a:ext cx="37307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Identify, assess, prioritize risks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24400" y="1766888"/>
            <a:ext cx="4038600" cy="876300"/>
          </a:xfrm>
          <a:prstGeom prst="roundRect">
            <a:avLst>
              <a:gd name="adj" fmla="val 8696"/>
            </a:avLst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43450" y="1766888"/>
            <a:ext cx="0" cy="87630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3950" y="1938337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Revision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33950" y="2281238"/>
            <a:ext cx="37307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changes, evaluate effectiveness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24400" y="2795588"/>
            <a:ext cx="4038600" cy="876300"/>
          </a:xfrm>
          <a:prstGeom prst="roundRect">
            <a:avLst>
              <a:gd name="adj" fmla="val 8696"/>
            </a:avLst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43450" y="2795588"/>
            <a:ext cx="0" cy="87630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3950" y="2967038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Information, Communication &amp; Reporting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933950" y="3309938"/>
            <a:ext cx="37307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data quality, stakeholder reporting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24400" y="3919537"/>
            <a:ext cx="40386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5EA8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78324" y="4110038"/>
            <a:ext cx="3730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risks mapped across all components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382000" cy="762000"/>
          </a:xfrm>
          <a:prstGeom prst="roundRect">
            <a:avLst>
              <a:gd name="adj" fmla="val 10000"/>
            </a:avLst>
          </a:prstGeom>
          <a:solidFill>
            <a:srgbClr val="1F4E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571500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Heatmap Matrix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195388"/>
            <a:ext cx="20694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125"/>
              </a:spcAft>
              <a:buNone/>
            </a:pPr>
            <a:r>
              <a:rPr lang="en-US" sz="15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Distribution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1757363"/>
            <a:ext cx="4038600" cy="19812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Impact, High Probability: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R001 (Default rate), R009 (Identity theft)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Impact, Medium Probability: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R004 (Liquidity), R007 (AWS outage)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Impact: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 risks with various probabilities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Impact: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Limited exposure in operational areas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4081463"/>
            <a:ext cx="4038600" cy="971550"/>
          </a:xfrm>
          <a:prstGeom prst="roundRect">
            <a:avLst>
              <a:gd name="adj" fmla="val 7843"/>
            </a:avLst>
          </a:prstGeom>
          <a:solidFill>
            <a:srgbClr val="FFF9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0050" y="4081463"/>
            <a:ext cx="0" cy="97155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1975" y="4224338"/>
            <a:ext cx="37890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1975" y="4529138"/>
            <a:ext cx="37890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risk scores range from 3 to 16 after controls. Focus areas: Credit risk segment and fraud prevention.</a:t>
            </a:r>
            <a:endParaRPr lang="en-US" sz="10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724400" y="1609725"/>
          <a:ext cx="4038600" cy="30289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3375"/>
            <a:ext cx="8382000" cy="723900"/>
          </a:xfrm>
          <a:prstGeom prst="roundRect">
            <a:avLst>
              <a:gd name="adj" fmla="val 10526"/>
            </a:avLst>
          </a:prstGeom>
          <a:solidFill>
            <a:srgbClr val="1F4E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2450" y="504825"/>
            <a:ext cx="41096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 Overview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233488"/>
            <a:ext cx="20694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Categories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1776413"/>
            <a:ext cx="411937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Risk (5):</a:t>
            </a:r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Default, alternative data, concentration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1000" y="2338388"/>
            <a:ext cx="411937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(2):</a:t>
            </a:r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System downtime, data pipeline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1000" y="2900363"/>
            <a:ext cx="4119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(2):</a:t>
            </a:r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AWS outage, model drift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1000" y="3195638"/>
            <a:ext cx="4119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(2):</a:t>
            </a:r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Identity theft, collusion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1000" y="3490913"/>
            <a:ext cx="4119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(2):</a:t>
            </a:r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SBV regulations, PDPA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1000" y="3786188"/>
            <a:ext cx="4119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(5):</a:t>
            </a:r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Model, strategic, reputation, market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1000" y="4348163"/>
            <a:ext cx="4038600" cy="419100"/>
          </a:xfrm>
          <a:prstGeom prst="roundRect">
            <a:avLst>
              <a:gd name="adj" fmla="val 13636"/>
            </a:avLst>
          </a:prstGeom>
          <a:solidFill>
            <a:srgbClr val="F0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4348163"/>
            <a:ext cx="0" cy="41910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400" y="4462463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High, 9 Medium, 1 Low control effectiveness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24400" y="1485900"/>
          <a:ext cx="4038600" cy="3028950"/>
        </p:xfrm>
        <a:graphic>
          <a:graphicData uri="http://schemas.openxmlformats.org/drawingml/2006/table">
            <a:tbl>
              <a:tblPr/>
              <a:tblGrid>
                <a:gridCol w="640080"/>
                <a:gridCol w="1097280"/>
                <a:gridCol w="2286000"/>
                <a:gridCol w="731520"/>
                <a:gridCol w="731520"/>
              </a:tblGrid>
              <a:tr h="3028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Risk 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Residual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Credit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Default rate in thin-file segment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Above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Credit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Over-reliance on alternative data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Within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Liquidity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Sudden funding withdrawal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Within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R007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Technology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AWS outage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Within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R008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Technology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ML model drift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Within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Fraud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Identity theft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Within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R011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Compliance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SBV Circular 39 non-compliance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Within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R014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Strategic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MoE scaling failure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Within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R017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Concentration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Customer segment over-dependence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At Limit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382000" cy="762000"/>
          </a:xfrm>
          <a:prstGeom prst="roundRect">
            <a:avLst>
              <a:gd name="adj" fmla="val 10000"/>
            </a:avLst>
          </a:prstGeom>
          <a:solidFill>
            <a:srgbClr val="1F4E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571500"/>
            <a:ext cx="6111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 Indicators (KRI) Dashboard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657350"/>
            <a:ext cx="1981200" cy="9906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790700"/>
            <a:ext cx="174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Rate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4350" y="1981200"/>
            <a:ext cx="17487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14350" y="2362200"/>
            <a:ext cx="174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&lt;8%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14600" y="1657350"/>
            <a:ext cx="1981200" cy="9906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47950" y="1790700"/>
            <a:ext cx="174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Alt-Data Gini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47950" y="1981200"/>
            <a:ext cx="17487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0.58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647950" y="2362200"/>
            <a:ext cx="174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&gt;0.55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48200" y="1657350"/>
            <a:ext cx="1981200" cy="9906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81550" y="1790700"/>
            <a:ext cx="174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Uptime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81550" y="1981200"/>
            <a:ext cx="17487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99.8%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781550" y="2362200"/>
            <a:ext cx="174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&gt;99.5%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81800" y="1657350"/>
            <a:ext cx="1981200" cy="9906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15150" y="1790700"/>
            <a:ext cx="174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15150" y="1981200"/>
            <a:ext cx="17487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6915150" y="2362200"/>
            <a:ext cx="174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&lt;2%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1000" y="2800350"/>
            <a:ext cx="1981200" cy="9906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4350" y="2933700"/>
            <a:ext cx="174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4350" y="3124200"/>
            <a:ext cx="17487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135%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514350" y="3505200"/>
            <a:ext cx="174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&gt;100%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14600" y="2800350"/>
            <a:ext cx="1981200" cy="9906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647950" y="2933700"/>
            <a:ext cx="174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PSI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47950" y="3124200"/>
            <a:ext cx="17487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2647950" y="3505200"/>
            <a:ext cx="174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&lt;0.25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48200" y="2800350"/>
            <a:ext cx="1981200" cy="9906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81550" y="2933700"/>
            <a:ext cx="174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81550" y="3124200"/>
            <a:ext cx="17487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65K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4781550" y="3505200"/>
            <a:ext cx="174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&gt;50K/day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81800" y="2800350"/>
            <a:ext cx="1981200" cy="9906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915150" y="2933700"/>
            <a:ext cx="174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Score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15150" y="3124200"/>
            <a:ext cx="17487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6915150" y="3505200"/>
            <a:ext cx="174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&gt;30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81000" y="4038600"/>
            <a:ext cx="8382000" cy="552450"/>
          </a:xfrm>
          <a:prstGeom prst="roundRect">
            <a:avLst>
              <a:gd name="adj" fmla="val 13793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42913" y="4181475"/>
            <a:ext cx="825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10 KRIs in </a:t>
            </a:r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status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-209550"/>
            <a:ext cx="8382000" cy="723900"/>
          </a:xfrm>
          <a:prstGeom prst="roundRect">
            <a:avLst>
              <a:gd name="adj" fmla="val 10526"/>
            </a:avLst>
          </a:prstGeom>
          <a:solidFill>
            <a:srgbClr val="1F4E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2450" y="-38100"/>
            <a:ext cx="55086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Plan &amp; Recommendations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Actions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1409700"/>
            <a:ext cx="8382000" cy="704850"/>
          </a:xfrm>
          <a:prstGeom prst="roundRect">
            <a:avLst>
              <a:gd name="adj" fmla="val 8108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409700"/>
            <a:ext cx="0" cy="70485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3400" y="1524000"/>
            <a:ext cx="82776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Credit Risk - Thin-File Segment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3400" y="1809750"/>
            <a:ext cx="82776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MoE architecture to improve predictive power. Target: Reduce default rate to &lt;6% by Q3 2025.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2362200"/>
            <a:ext cx="8382000" cy="704850"/>
          </a:xfrm>
          <a:prstGeom prst="roundRect">
            <a:avLst>
              <a:gd name="adj" fmla="val 8108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362200"/>
            <a:ext cx="0" cy="70485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3400" y="2476500"/>
            <a:ext cx="82776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Segment Concentration Risk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3400" y="2762250"/>
            <a:ext cx="82776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Diversify customer base beyond gig workers. Expand to formal employment segment.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1000" y="346710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200"/>
              </a:spcBef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Monitoring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1000" y="3981450"/>
            <a:ext cx="8382000" cy="419100"/>
          </a:xfrm>
          <a:prstGeom prst="roundRect">
            <a:avLst>
              <a:gd name="adj" fmla="val 13636"/>
            </a:avLst>
          </a:prstGeom>
          <a:solidFill>
            <a:srgbClr val="FFF9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0050" y="3981450"/>
            <a:ext cx="0" cy="41910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3400" y="4095750"/>
            <a:ext cx="82776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Risk Register review, KRI monitoring, Model PSI tracking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1000" y="4648200"/>
            <a:ext cx="8382000" cy="419100"/>
          </a:xfrm>
          <a:prstGeom prst="roundRect">
            <a:avLst>
              <a:gd name="adj" fmla="val 13636"/>
            </a:avLst>
          </a:prstGeom>
          <a:solidFill>
            <a:srgbClr val="FFF9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00050" y="4648200"/>
            <a:ext cx="0" cy="41910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400" y="4762500"/>
            <a:ext cx="82776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Board reporting, Stress testing, Control effectiveness testing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Risk Management - Risk Register &amp; Heatmap</dc:title>
  <dc:subject>PptxGenJS Presentation</dc:subject>
  <dc:creator>Neo Finance Bank - Risk Management</dc:creator>
  <cp:lastModifiedBy>Neo Finance Bank - Risk Management</cp:lastModifiedBy>
  <cp:revision>1</cp:revision>
  <dcterms:created xsi:type="dcterms:W3CDTF">2025-11-14T09:06:50Z</dcterms:created>
  <dcterms:modified xsi:type="dcterms:W3CDTF">2025-11-14T09:06:50Z</dcterms:modified>
</cp:coreProperties>
</file>